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7" r:id="rId2"/>
    <p:sldId id="257" r:id="rId3"/>
    <p:sldId id="261" r:id="rId4"/>
    <p:sldId id="263" r:id="rId5"/>
    <p:sldId id="262" r:id="rId6"/>
    <p:sldId id="268"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1" d="100"/>
          <a:sy n="61" d="100"/>
        </p:scale>
        <p:origin x="8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866042F-34D7-48F5-9151-DDF8570C6CE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EFC8F-15D6-4807-A6BF-A35A322A86C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36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66042F-34D7-48F5-9151-DDF8570C6CE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EFC8F-15D6-4807-A6BF-A35A322A86C2}" type="slidenum">
              <a:rPr lang="en-US" smtClean="0"/>
              <a:t>‹#›</a:t>
            </a:fld>
            <a:endParaRPr lang="en-US"/>
          </a:p>
        </p:txBody>
      </p:sp>
    </p:spTree>
    <p:extLst>
      <p:ext uri="{BB962C8B-B14F-4D97-AF65-F5344CB8AC3E}">
        <p14:creationId xmlns:p14="http://schemas.microsoft.com/office/powerpoint/2010/main" val="2931178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66042F-34D7-48F5-9151-DDF8570C6CE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EFC8F-15D6-4807-A6BF-A35A322A86C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5345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866042F-34D7-48F5-9151-DDF8570C6CE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7EFC8F-15D6-4807-A6BF-A35A322A86C2}" type="slidenum">
              <a:rPr lang="en-US" smtClean="0"/>
              <a:t>‹#›</a:t>
            </a:fld>
            <a:endParaRPr lang="en-US"/>
          </a:p>
        </p:txBody>
      </p:sp>
    </p:spTree>
    <p:extLst>
      <p:ext uri="{BB962C8B-B14F-4D97-AF65-F5344CB8AC3E}">
        <p14:creationId xmlns:p14="http://schemas.microsoft.com/office/powerpoint/2010/main" val="3912999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866042F-34D7-48F5-9151-DDF8570C6CE4}"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7EFC8F-15D6-4807-A6BF-A35A322A86C2}" type="slidenum">
              <a:rPr lang="en-US" smtClean="0"/>
              <a:t>‹#›</a:t>
            </a:fld>
            <a:endParaRPr lang="en-US"/>
          </a:p>
        </p:txBody>
      </p:sp>
    </p:spTree>
    <p:extLst>
      <p:ext uri="{BB962C8B-B14F-4D97-AF65-F5344CB8AC3E}">
        <p14:creationId xmlns:p14="http://schemas.microsoft.com/office/powerpoint/2010/main" val="4118772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866042F-34D7-48F5-9151-DDF8570C6CE4}"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7EFC8F-15D6-4807-A6BF-A35A322A86C2}" type="slidenum">
              <a:rPr lang="en-US" smtClean="0"/>
              <a:t>‹#›</a:t>
            </a:fld>
            <a:endParaRPr lang="en-US"/>
          </a:p>
        </p:txBody>
      </p:sp>
    </p:spTree>
    <p:extLst>
      <p:ext uri="{BB962C8B-B14F-4D97-AF65-F5344CB8AC3E}">
        <p14:creationId xmlns:p14="http://schemas.microsoft.com/office/powerpoint/2010/main" val="1234171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866042F-34D7-48F5-9151-DDF8570C6CE4}" type="datetimeFigureOut">
              <a:rPr lang="en-US" smtClean="0"/>
              <a:t>6/5/2026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77EFC8F-15D6-4807-A6BF-A35A322A86C2}" type="slidenum">
              <a:rPr lang="en-US" smtClean="0"/>
              <a:t>‹#›</a:t>
            </a:fld>
            <a:endParaRPr lang="en-US"/>
          </a:p>
        </p:txBody>
      </p:sp>
    </p:spTree>
    <p:extLst>
      <p:ext uri="{BB962C8B-B14F-4D97-AF65-F5344CB8AC3E}">
        <p14:creationId xmlns:p14="http://schemas.microsoft.com/office/powerpoint/2010/main" val="1352901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866042F-34D7-48F5-9151-DDF8570C6CE4}" type="datetimeFigureOut">
              <a:rPr lang="en-US" smtClean="0"/>
              <a:t>6/5/2026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77EFC8F-15D6-4807-A6BF-A35A322A86C2}" type="slidenum">
              <a:rPr lang="en-US" smtClean="0"/>
              <a:t>‹#›</a:t>
            </a:fld>
            <a:endParaRPr lang="en-US"/>
          </a:p>
        </p:txBody>
      </p:sp>
    </p:spTree>
    <p:extLst>
      <p:ext uri="{BB962C8B-B14F-4D97-AF65-F5344CB8AC3E}">
        <p14:creationId xmlns:p14="http://schemas.microsoft.com/office/powerpoint/2010/main" val="2960257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866042F-34D7-48F5-9151-DDF8570C6CE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7EFC8F-15D6-4807-A6BF-A35A322A86C2}" type="slidenum">
              <a:rPr lang="en-US" smtClean="0"/>
              <a:t>‹#›</a:t>
            </a:fld>
            <a:endParaRPr lang="en-US"/>
          </a:p>
        </p:txBody>
      </p:sp>
    </p:spTree>
    <p:extLst>
      <p:ext uri="{BB962C8B-B14F-4D97-AF65-F5344CB8AC3E}">
        <p14:creationId xmlns:p14="http://schemas.microsoft.com/office/powerpoint/2010/main" val="2797181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66042F-34D7-48F5-9151-DDF8570C6CE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EFC8F-15D6-4807-A6BF-A35A322A86C2}" type="slidenum">
              <a:rPr lang="en-US" smtClean="0"/>
              <a:t>‹#›</a:t>
            </a:fld>
            <a:endParaRPr lang="en-US"/>
          </a:p>
        </p:txBody>
      </p:sp>
    </p:spTree>
    <p:extLst>
      <p:ext uri="{BB962C8B-B14F-4D97-AF65-F5344CB8AC3E}">
        <p14:creationId xmlns:p14="http://schemas.microsoft.com/office/powerpoint/2010/main" val="66642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66042F-34D7-48F5-9151-DDF8570C6CE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7EFC8F-15D6-4807-A6BF-A35A322A86C2}" type="slidenum">
              <a:rPr lang="en-US" smtClean="0"/>
              <a:t>‹#›</a:t>
            </a:fld>
            <a:endParaRPr lang="en-US"/>
          </a:p>
        </p:txBody>
      </p:sp>
    </p:spTree>
    <p:extLst>
      <p:ext uri="{BB962C8B-B14F-4D97-AF65-F5344CB8AC3E}">
        <p14:creationId xmlns:p14="http://schemas.microsoft.com/office/powerpoint/2010/main" val="3011181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866042F-34D7-48F5-9151-DDF8570C6CE4}" type="datetimeFigureOut">
              <a:rPr lang="en-US" smtClean="0"/>
              <a:t>6/5/2026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77EFC8F-15D6-4807-A6BF-A35A322A86C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024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243382" cy="1447604"/>
          </a:xfrm>
        </p:spPr>
        <p:txBody>
          <a:bodyPr>
            <a:normAutofit/>
          </a:bodyPr>
          <a:lstStyle/>
          <a:p>
            <a:r>
              <a:rPr lang="en-US" sz="4000" b="1" dirty="0">
                <a:solidFill>
                  <a:schemeClr val="bg1"/>
                </a:solidFill>
              </a:rPr>
              <a:t>SMART FALL DETECTION AND EMERGENCY ALERT System</a:t>
            </a:r>
          </a:p>
        </p:txBody>
      </p:sp>
      <p:sp>
        <p:nvSpPr>
          <p:cNvPr id="3" name="Content Placeholder 2"/>
          <p:cNvSpPr>
            <a:spLocks noGrp="1"/>
          </p:cNvSpPr>
          <p:nvPr>
            <p:ph idx="1"/>
          </p:nvPr>
        </p:nvSpPr>
        <p:spPr>
          <a:xfrm>
            <a:off x="1097280" y="2312277"/>
            <a:ext cx="10789920" cy="3825764"/>
          </a:xfrm>
        </p:spPr>
        <p:txBody>
          <a:bodyPr>
            <a:normAutofit/>
          </a:bodyPr>
          <a:lstStyle/>
          <a:p>
            <a:pPr marL="0" indent="0">
              <a:buNone/>
            </a:pPr>
            <a:r>
              <a:rPr lang="en-US" sz="3600" b="1" dirty="0">
                <a:solidFill>
                  <a:schemeClr val="bg1"/>
                </a:solidFill>
              </a:rPr>
              <a:t>Presented </a:t>
            </a:r>
            <a:r>
              <a:rPr lang="en-US" sz="3600" b="1" dirty="0" smtClean="0">
                <a:solidFill>
                  <a:schemeClr val="bg1"/>
                </a:solidFill>
              </a:rPr>
              <a:t>By:             </a:t>
            </a:r>
            <a:r>
              <a:rPr lang="en-US" sz="3600" dirty="0" err="1" smtClean="0">
                <a:solidFill>
                  <a:schemeClr val="bg1"/>
                </a:solidFill>
              </a:rPr>
              <a:t>Fiza</a:t>
            </a:r>
            <a:r>
              <a:rPr lang="en-US" sz="3600" dirty="0" smtClean="0">
                <a:solidFill>
                  <a:schemeClr val="bg1"/>
                </a:solidFill>
              </a:rPr>
              <a:t> Ashiq ,</a:t>
            </a:r>
            <a:r>
              <a:rPr lang="en-US" sz="3600" dirty="0" err="1" smtClean="0">
                <a:solidFill>
                  <a:schemeClr val="bg1"/>
                </a:solidFill>
              </a:rPr>
              <a:t>Fairha</a:t>
            </a:r>
            <a:r>
              <a:rPr lang="en-US" sz="3600" dirty="0" smtClean="0">
                <a:solidFill>
                  <a:schemeClr val="bg1"/>
                </a:solidFill>
              </a:rPr>
              <a:t> </a:t>
            </a:r>
            <a:r>
              <a:rPr lang="en-US" sz="3600" dirty="0" err="1" smtClean="0">
                <a:solidFill>
                  <a:schemeClr val="bg1"/>
                </a:solidFill>
              </a:rPr>
              <a:t>Tayyab</a:t>
            </a:r>
            <a:endParaRPr lang="en-US" sz="3600" dirty="0" smtClean="0">
              <a:solidFill>
                <a:schemeClr val="bg1"/>
              </a:solidFill>
            </a:endParaRPr>
          </a:p>
          <a:p>
            <a:pPr marL="0" indent="0">
              <a:buNone/>
            </a:pPr>
            <a:r>
              <a:rPr lang="en-US" sz="3600" b="1" dirty="0">
                <a:solidFill>
                  <a:schemeClr val="bg1"/>
                </a:solidFill>
              </a:rPr>
              <a:t>Submitted to</a:t>
            </a:r>
            <a:r>
              <a:rPr lang="en-US" sz="5400" b="1" dirty="0">
                <a:solidFill>
                  <a:schemeClr val="bg1"/>
                </a:solidFill>
              </a:rPr>
              <a:t>:     </a:t>
            </a:r>
            <a:r>
              <a:rPr lang="en-US" sz="5400" b="1" dirty="0" smtClean="0">
                <a:solidFill>
                  <a:schemeClr val="bg1"/>
                </a:solidFill>
              </a:rPr>
              <a:t>    </a:t>
            </a:r>
            <a:r>
              <a:rPr lang="en-US" sz="3600" dirty="0" smtClean="0">
                <a:solidFill>
                  <a:schemeClr val="bg1"/>
                </a:solidFill>
              </a:rPr>
              <a:t>Sir </a:t>
            </a:r>
            <a:r>
              <a:rPr lang="en-US" sz="3600" dirty="0">
                <a:solidFill>
                  <a:schemeClr val="bg1"/>
                </a:solidFill>
              </a:rPr>
              <a:t>Faisal </a:t>
            </a:r>
            <a:r>
              <a:rPr lang="en-US" sz="3600" dirty="0" err="1" smtClean="0">
                <a:solidFill>
                  <a:schemeClr val="bg1"/>
                </a:solidFill>
              </a:rPr>
              <a:t>Hafeez</a:t>
            </a:r>
            <a:endParaRPr lang="en-US" sz="3600" dirty="0" smtClean="0">
              <a:solidFill>
                <a:schemeClr val="bg1"/>
              </a:solidFill>
            </a:endParaRPr>
          </a:p>
          <a:p>
            <a:pPr marL="0" indent="0">
              <a:buNone/>
            </a:pPr>
            <a:r>
              <a:rPr lang="en-US" sz="2400" b="1" dirty="0" smtClean="0">
                <a:solidFill>
                  <a:schemeClr val="bg1"/>
                </a:solidFill>
              </a:rPr>
              <a:t> </a:t>
            </a:r>
            <a:r>
              <a:rPr lang="en-US" sz="3600" b="1" dirty="0">
                <a:solidFill>
                  <a:schemeClr val="bg1"/>
                </a:solidFill>
              </a:rPr>
              <a:t>Roll </a:t>
            </a:r>
            <a:r>
              <a:rPr lang="en-US" sz="3600" b="1" dirty="0" smtClean="0">
                <a:solidFill>
                  <a:schemeClr val="bg1"/>
                </a:solidFill>
              </a:rPr>
              <a:t>number</a:t>
            </a:r>
            <a:r>
              <a:rPr lang="en-US" sz="3600" b="1" dirty="0">
                <a:solidFill>
                  <a:schemeClr val="bg1"/>
                </a:solidFill>
              </a:rPr>
              <a:t>:              </a:t>
            </a:r>
            <a:r>
              <a:rPr lang="en-US" sz="3600" dirty="0" smtClean="0">
                <a:solidFill>
                  <a:schemeClr val="bg1"/>
                </a:solidFill>
              </a:rPr>
              <a:t>BSITM_SECB_90,80</a:t>
            </a:r>
          </a:p>
          <a:p>
            <a:pPr marL="0" indent="0">
              <a:buNone/>
            </a:pPr>
            <a:r>
              <a:rPr lang="en-US" sz="3900" b="1" dirty="0" smtClean="0">
                <a:solidFill>
                  <a:schemeClr val="bg1"/>
                </a:solidFill>
              </a:rPr>
              <a:t>subject</a:t>
            </a:r>
            <a:r>
              <a:rPr lang="en-US" sz="3900" b="1" dirty="0">
                <a:solidFill>
                  <a:schemeClr val="bg1"/>
                </a:solidFill>
              </a:rPr>
              <a:t>:                </a:t>
            </a:r>
            <a:r>
              <a:rPr lang="en-US" sz="3900" b="1" dirty="0" smtClean="0">
                <a:solidFill>
                  <a:schemeClr val="bg1"/>
                </a:solidFill>
              </a:rPr>
              <a:t>     </a:t>
            </a:r>
            <a:r>
              <a:rPr lang="en-US" sz="3900" dirty="0" smtClean="0">
                <a:solidFill>
                  <a:schemeClr val="bg1"/>
                </a:solidFill>
              </a:rPr>
              <a:t>Mobile Application </a:t>
            </a:r>
            <a:r>
              <a:rPr lang="en-US" sz="3900" dirty="0" err="1" smtClean="0">
                <a:solidFill>
                  <a:schemeClr val="bg1"/>
                </a:solidFill>
              </a:rPr>
              <a:t>developmen</a:t>
            </a:r>
            <a:endParaRPr lang="en-US" sz="3000" b="1" dirty="0">
              <a:solidFill>
                <a:schemeClr val="bg1"/>
              </a:solidFill>
            </a:endParaRPr>
          </a:p>
          <a:p>
            <a:pPr marL="0" indent="0">
              <a:buNone/>
            </a:pPr>
            <a:endParaRPr lang="en-US" sz="3900" b="1" dirty="0" smtClean="0">
              <a:solidFill>
                <a:schemeClr val="bg1"/>
              </a:solidFill>
            </a:endParaRPr>
          </a:p>
        </p:txBody>
      </p:sp>
    </p:spTree>
    <p:extLst>
      <p:ext uri="{BB962C8B-B14F-4D97-AF65-F5344CB8AC3E}">
        <p14:creationId xmlns:p14="http://schemas.microsoft.com/office/powerpoint/2010/main" val="2783509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39018" y="1229710"/>
            <a:ext cx="10058400" cy="907043"/>
          </a:xfrm>
        </p:spPr>
        <p:txBody>
          <a:bodyPr>
            <a:normAutofit fontScale="90000"/>
          </a:bodyPr>
          <a:lstStyle/>
          <a:p>
            <a:r>
              <a:rPr lang="en-US" b="1" dirty="0" err="1" smtClean="0">
                <a:solidFill>
                  <a:schemeClr val="bg1"/>
                </a:solidFill>
              </a:rPr>
              <a:t>SafeFall</a:t>
            </a:r>
            <a:r>
              <a:rPr lang="en-US" b="1" dirty="0" smtClean="0">
                <a:solidFill>
                  <a:schemeClr val="bg1"/>
                </a:solidFill>
              </a:rPr>
              <a:t/>
            </a:r>
            <a:br>
              <a:rPr lang="en-US" b="1" dirty="0" smtClean="0">
                <a:solidFill>
                  <a:schemeClr val="bg1"/>
                </a:solidFill>
              </a:rPr>
            </a:br>
            <a:endParaRPr lang="en-US" b="1" dirty="0">
              <a:solidFill>
                <a:schemeClr val="bg1"/>
              </a:solidFill>
            </a:endParaRPr>
          </a:p>
        </p:txBody>
      </p:sp>
      <p:sp>
        <p:nvSpPr>
          <p:cNvPr id="3" name="Content Placeholder 2"/>
          <p:cNvSpPr>
            <a:spLocks noGrp="1"/>
          </p:cNvSpPr>
          <p:nvPr>
            <p:ph idx="1"/>
          </p:nvPr>
        </p:nvSpPr>
        <p:spPr>
          <a:xfrm>
            <a:off x="1097280" y="2357610"/>
            <a:ext cx="10058400" cy="3511484"/>
          </a:xfrm>
        </p:spPr>
        <p:txBody>
          <a:bodyPr>
            <a:normAutofit/>
          </a:bodyPr>
          <a:lstStyle/>
          <a:p>
            <a:pPr>
              <a:lnSpc>
                <a:spcPct val="100000"/>
              </a:lnSpc>
            </a:pPr>
            <a:r>
              <a:rPr lang="en-US" sz="2400" dirty="0">
                <a:solidFill>
                  <a:schemeClr val="bg1"/>
                </a:solidFill>
              </a:rPr>
              <a:t>The Smart Fall Detection &amp; Emergency Alert System is an Android application designed to improve the safety of elderly people and patients. The app automatically detects falls, sends emergency alerts with live location to caretakers, and also provides a manual SOS feature for emergency situations.</a:t>
            </a:r>
          </a:p>
        </p:txBody>
      </p:sp>
    </p:spTree>
    <p:extLst>
      <p:ext uri="{BB962C8B-B14F-4D97-AF65-F5344CB8AC3E}">
        <p14:creationId xmlns:p14="http://schemas.microsoft.com/office/powerpoint/2010/main" val="4182915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bg1"/>
                </a:solidFill>
              </a:rPr>
              <a:t>Features</a:t>
            </a:r>
          </a:p>
        </p:txBody>
      </p:sp>
      <p:sp>
        <p:nvSpPr>
          <p:cNvPr id="4" name="Rectangle 1"/>
          <p:cNvSpPr>
            <a:spLocks noGrp="1" noChangeArrowheads="1"/>
          </p:cNvSpPr>
          <p:nvPr>
            <p:ph idx="1"/>
          </p:nvPr>
        </p:nvSpPr>
        <p:spPr bwMode="auto">
          <a:xfrm>
            <a:off x="1096963" y="2283494"/>
            <a:ext cx="692243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bg1"/>
                </a:solidFill>
                <a:effectLst/>
                <a:latin typeface="Arial" panose="020B0604020202020204" pitchFamily="34" charset="0"/>
              </a:rPr>
              <a:t>Automatic Fall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bg1"/>
                </a:solidFill>
                <a:effectLst/>
                <a:latin typeface="Arial" panose="020B0604020202020204" pitchFamily="34" charset="0"/>
              </a:rPr>
              <a:t>5-Second “I Am Okay” Confirmation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bg1"/>
                </a:solidFill>
                <a:effectLst/>
                <a:latin typeface="Arial" panose="020B0604020202020204" pitchFamily="34" charset="0"/>
              </a:rPr>
              <a:t>Emergency Alert Sending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bg1"/>
                </a:solidFill>
                <a:effectLst/>
                <a:latin typeface="Arial" panose="020B0604020202020204" pitchFamily="34" charset="0"/>
              </a:rPr>
              <a:t>Live GPS Location Sharing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bg1"/>
                </a:solidFill>
                <a:effectLst/>
                <a:latin typeface="Arial" panose="020B0604020202020204" pitchFamily="34" charset="0"/>
              </a:rPr>
              <a:t>Manual SOS Emergency Button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bg1"/>
                </a:solidFill>
                <a:effectLst/>
                <a:latin typeface="Arial" panose="020B0604020202020204" pitchFamily="34" charset="0"/>
              </a:rPr>
              <a:t>Caretaker Linking Through Unique ID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bg1"/>
                </a:solidFill>
                <a:effectLst/>
                <a:latin typeface="Arial" panose="020B0604020202020204" pitchFamily="34" charset="0"/>
              </a:rPr>
              <a:t>Alert History Management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bg1"/>
                </a:solidFill>
                <a:effectLst/>
                <a:latin typeface="Arial" panose="020B0604020202020204" pitchFamily="34" charset="0"/>
              </a:rPr>
              <a:t>Edit/Delete Caretaker &amp; Alerts </a:t>
            </a:r>
          </a:p>
        </p:txBody>
      </p:sp>
    </p:spTree>
    <p:extLst>
      <p:ext uri="{BB962C8B-B14F-4D97-AF65-F5344CB8AC3E}">
        <p14:creationId xmlns:p14="http://schemas.microsoft.com/office/powerpoint/2010/main" val="556508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bg1"/>
                </a:solidFill>
              </a:rPr>
              <a:t>Working of the App</a:t>
            </a:r>
          </a:p>
        </p:txBody>
      </p:sp>
      <p:sp>
        <p:nvSpPr>
          <p:cNvPr id="3" name="Content Placeholder 2"/>
          <p:cNvSpPr>
            <a:spLocks noGrp="1"/>
          </p:cNvSpPr>
          <p:nvPr>
            <p:ph idx="1"/>
          </p:nvPr>
        </p:nvSpPr>
        <p:spPr>
          <a:xfrm>
            <a:off x="1097280" y="2478795"/>
            <a:ext cx="10058400" cy="3390299"/>
          </a:xfrm>
        </p:spPr>
        <p:txBody>
          <a:bodyPr>
            <a:normAutofit/>
          </a:bodyPr>
          <a:lstStyle/>
          <a:p>
            <a:r>
              <a:rPr lang="en-US" b="1" dirty="0">
                <a:solidFill>
                  <a:schemeClr val="bg1"/>
                </a:solidFill>
              </a:rPr>
              <a:t>How the Application Works</a:t>
            </a:r>
          </a:p>
          <a:p>
            <a:r>
              <a:rPr lang="en-US" dirty="0">
                <a:solidFill>
                  <a:schemeClr val="bg1"/>
                </a:solidFill>
              </a:rPr>
              <a:t>Application continuously monitors user movement </a:t>
            </a:r>
          </a:p>
          <a:p>
            <a:r>
              <a:rPr lang="en-US" dirty="0">
                <a:solidFill>
                  <a:schemeClr val="bg1"/>
                </a:solidFill>
              </a:rPr>
              <a:t>If a fall is detected, a 5-second popup appears </a:t>
            </a:r>
          </a:p>
          <a:p>
            <a:r>
              <a:rPr lang="en-US" dirty="0">
                <a:solidFill>
                  <a:schemeClr val="bg1"/>
                </a:solidFill>
              </a:rPr>
              <a:t>User can press “I Am Okay” to cancel alert </a:t>
            </a:r>
          </a:p>
          <a:p>
            <a:r>
              <a:rPr lang="en-US" dirty="0">
                <a:solidFill>
                  <a:schemeClr val="bg1"/>
                </a:solidFill>
              </a:rPr>
              <a:t>If no response is received: </a:t>
            </a:r>
          </a:p>
          <a:p>
            <a:pPr lvl="1"/>
            <a:r>
              <a:rPr lang="en-US" dirty="0">
                <a:solidFill>
                  <a:schemeClr val="bg1"/>
                </a:solidFill>
              </a:rPr>
              <a:t>Emergency alert is sent </a:t>
            </a:r>
          </a:p>
          <a:p>
            <a:pPr lvl="1"/>
            <a:r>
              <a:rPr lang="en-US" dirty="0">
                <a:solidFill>
                  <a:schemeClr val="bg1"/>
                </a:solidFill>
              </a:rPr>
              <a:t>Live location is shared with caretaker </a:t>
            </a:r>
          </a:p>
          <a:p>
            <a:r>
              <a:rPr lang="en-US" dirty="0">
                <a:solidFill>
                  <a:schemeClr val="bg1"/>
                </a:solidFill>
              </a:rPr>
              <a:t>User can also manually send SOS alert anytime </a:t>
            </a:r>
          </a:p>
          <a:p>
            <a:endParaRPr lang="en-US" sz="3200" dirty="0" smtClean="0">
              <a:solidFill>
                <a:schemeClr val="bg1"/>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3360" y="2270232"/>
            <a:ext cx="1955391" cy="3447393"/>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77882" y="2193243"/>
            <a:ext cx="1756765" cy="3601369"/>
          </a:xfrm>
          <a:prstGeom prst="rect">
            <a:avLst/>
          </a:prstGeom>
        </p:spPr>
      </p:pic>
    </p:spTree>
    <p:extLst>
      <p:ext uri="{BB962C8B-B14F-4D97-AF65-F5344CB8AC3E}">
        <p14:creationId xmlns:p14="http://schemas.microsoft.com/office/powerpoint/2010/main" val="369916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bg1"/>
                </a:solidFill>
              </a:rPr>
              <a:t>Technologies &amp; Algorithm</a:t>
            </a:r>
          </a:p>
        </p:txBody>
      </p:sp>
      <p:sp>
        <p:nvSpPr>
          <p:cNvPr id="3" name="Content Placeholder 2"/>
          <p:cNvSpPr>
            <a:spLocks noGrp="1"/>
          </p:cNvSpPr>
          <p:nvPr>
            <p:ph idx="1"/>
          </p:nvPr>
        </p:nvSpPr>
        <p:spPr>
          <a:xfrm>
            <a:off x="1187668" y="1923393"/>
            <a:ext cx="9968011" cy="3945701"/>
          </a:xfrm>
        </p:spPr>
        <p:txBody>
          <a:bodyPr>
            <a:normAutofit fontScale="25000" lnSpcReduction="20000"/>
          </a:bodyPr>
          <a:lstStyle/>
          <a:p>
            <a:r>
              <a:rPr lang="en-US" sz="7200" b="1" dirty="0">
                <a:solidFill>
                  <a:schemeClr val="bg1"/>
                </a:solidFill>
              </a:rPr>
              <a:t>Technologies Used</a:t>
            </a:r>
          </a:p>
          <a:p>
            <a:r>
              <a:rPr lang="en-US" sz="5600" dirty="0">
                <a:solidFill>
                  <a:schemeClr val="bg1"/>
                </a:solidFill>
              </a:rPr>
              <a:t>Android Studio </a:t>
            </a:r>
          </a:p>
          <a:p>
            <a:r>
              <a:rPr lang="en-US" sz="5600" dirty="0">
                <a:solidFill>
                  <a:schemeClr val="bg1"/>
                </a:solidFill>
              </a:rPr>
              <a:t>Java &amp; XML </a:t>
            </a:r>
          </a:p>
          <a:p>
            <a:r>
              <a:rPr lang="en-US" sz="5600" dirty="0">
                <a:solidFill>
                  <a:schemeClr val="bg1"/>
                </a:solidFill>
              </a:rPr>
              <a:t>Firebase Database </a:t>
            </a:r>
          </a:p>
          <a:p>
            <a:r>
              <a:rPr lang="en-US" sz="5600" dirty="0">
                <a:solidFill>
                  <a:schemeClr val="bg1"/>
                </a:solidFill>
              </a:rPr>
              <a:t>GPS Location Services </a:t>
            </a:r>
          </a:p>
          <a:p>
            <a:r>
              <a:rPr lang="en-US" sz="5600" dirty="0">
                <a:solidFill>
                  <a:schemeClr val="bg1"/>
                </a:solidFill>
              </a:rPr>
              <a:t>Accelerometer Sensor </a:t>
            </a:r>
          </a:p>
          <a:p>
            <a:r>
              <a:rPr lang="en-US" sz="5600" dirty="0">
                <a:solidFill>
                  <a:schemeClr val="bg1"/>
                </a:solidFill>
              </a:rPr>
              <a:t>Algorithm Used</a:t>
            </a:r>
          </a:p>
          <a:p>
            <a:r>
              <a:rPr lang="en-US" sz="7200" b="1" dirty="0">
                <a:solidFill>
                  <a:schemeClr val="bg1"/>
                </a:solidFill>
              </a:rPr>
              <a:t>Threshold-Based Fall Detection Algorithm</a:t>
            </a:r>
          </a:p>
          <a:p>
            <a:r>
              <a:rPr lang="en-US" sz="7200" dirty="0">
                <a:solidFill>
                  <a:schemeClr val="bg1"/>
                </a:solidFill>
              </a:rPr>
              <a:t>Detects:</a:t>
            </a:r>
          </a:p>
          <a:p>
            <a:r>
              <a:rPr lang="en-US" sz="7200" dirty="0">
                <a:solidFill>
                  <a:schemeClr val="bg1"/>
                </a:solidFill>
              </a:rPr>
              <a:t>Sudden acceleration </a:t>
            </a:r>
          </a:p>
          <a:p>
            <a:r>
              <a:rPr lang="en-US" sz="7200" dirty="0">
                <a:solidFill>
                  <a:schemeClr val="bg1"/>
                </a:solidFill>
              </a:rPr>
              <a:t>Abnormal movement </a:t>
            </a:r>
          </a:p>
          <a:p>
            <a:r>
              <a:rPr lang="en-US" sz="7200" dirty="0">
                <a:solidFill>
                  <a:schemeClr val="bg1"/>
                </a:solidFill>
              </a:rPr>
              <a:t>Possible falls</a:t>
            </a:r>
          </a:p>
          <a:p>
            <a:endParaRPr lang="en-US" sz="3200" dirty="0">
              <a:solidFill>
                <a:schemeClr val="bg1"/>
              </a:solidFill>
            </a:endParaRPr>
          </a:p>
        </p:txBody>
      </p:sp>
    </p:spTree>
    <p:extLst>
      <p:ext uri="{BB962C8B-B14F-4D97-AF65-F5344CB8AC3E}">
        <p14:creationId xmlns:p14="http://schemas.microsoft.com/office/powerpoint/2010/main" val="3488080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bg1"/>
                </a:solidFill>
              </a:rPr>
              <a:t>Limitations</a:t>
            </a:r>
          </a:p>
        </p:txBody>
      </p:sp>
      <p:sp>
        <p:nvSpPr>
          <p:cNvPr id="4" name="Rectangle 1"/>
          <p:cNvSpPr>
            <a:spLocks noGrp="1" noChangeArrowheads="1"/>
          </p:cNvSpPr>
          <p:nvPr>
            <p:ph idx="1"/>
          </p:nvPr>
        </p:nvSpPr>
        <p:spPr bwMode="auto">
          <a:xfrm>
            <a:off x="1097280" y="2793333"/>
            <a:ext cx="884550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smtClean="0">
                <a:ln>
                  <a:noFill/>
                </a:ln>
                <a:solidFill>
                  <a:schemeClr val="bg1"/>
                </a:solidFill>
                <a:effectLst/>
                <a:latin typeface="Arial" panose="020B0604020202020204" pitchFamily="34" charset="0"/>
              </a:rPr>
              <a:t>Requires internet/GPS for location sharing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smtClean="0">
                <a:ln>
                  <a:noFill/>
                </a:ln>
                <a:solidFill>
                  <a:schemeClr val="bg1"/>
                </a:solidFill>
                <a:effectLst/>
                <a:latin typeface="Arial" panose="020B0604020202020204" pitchFamily="34" charset="0"/>
              </a:rPr>
              <a:t>Battery consumption due to continuous sensor monitoring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smtClean="0">
                <a:ln>
                  <a:noFill/>
                </a:ln>
                <a:solidFill>
                  <a:schemeClr val="bg1"/>
                </a:solidFill>
                <a:effectLst/>
                <a:latin typeface="Arial" panose="020B0604020202020204" pitchFamily="34" charset="0"/>
              </a:rPr>
              <a:t>Accuracy depends on mobile sensor quality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smtClean="0">
                <a:ln>
                  <a:noFill/>
                </a:ln>
                <a:solidFill>
                  <a:schemeClr val="bg1"/>
                </a:solidFill>
                <a:effectLst/>
                <a:latin typeface="Arial" panose="020B0604020202020204" pitchFamily="34" charset="0"/>
              </a:rPr>
              <a:t>If the mobile phone is far from the user, fall detection may not work accurately</a:t>
            </a:r>
            <a:r>
              <a:rPr kumimoji="0" lang="en-US" altLang="en-US" sz="1800" b="0" i="0" u="none" strike="noStrike" cap="none" normalizeH="0" baseline="0" dirty="0" smtClean="0">
                <a:ln>
                  <a:noFill/>
                </a:ln>
                <a:solidFill>
                  <a:schemeClr val="bg1"/>
                </a:solidFill>
                <a:effectLst/>
                <a:latin typeface="Arial" panose="020B0604020202020204" pitchFamily="34" charset="0"/>
              </a:rPr>
              <a:t> </a:t>
            </a:r>
          </a:p>
        </p:txBody>
      </p:sp>
    </p:spTree>
    <p:extLst>
      <p:ext uri="{BB962C8B-B14F-4D97-AF65-F5344CB8AC3E}">
        <p14:creationId xmlns:p14="http://schemas.microsoft.com/office/powerpoint/2010/main" val="2611651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48033" y="244561"/>
            <a:ext cx="10058400" cy="1450757"/>
          </a:xfrm>
        </p:spPr>
        <p:txBody>
          <a:bodyPr>
            <a:normAutofit/>
          </a:bodyPr>
          <a:lstStyle/>
          <a:p>
            <a:r>
              <a:rPr lang="en-US" b="1" dirty="0">
                <a:solidFill>
                  <a:schemeClr val="bg1"/>
                </a:solidFill>
              </a:rPr>
              <a:t>Future Work</a:t>
            </a:r>
          </a:p>
        </p:txBody>
      </p:sp>
      <p:sp>
        <p:nvSpPr>
          <p:cNvPr id="3" name="Content Placeholder 2"/>
          <p:cNvSpPr>
            <a:spLocks noGrp="1"/>
          </p:cNvSpPr>
          <p:nvPr>
            <p:ph idx="1"/>
          </p:nvPr>
        </p:nvSpPr>
        <p:spPr>
          <a:xfrm>
            <a:off x="1135118" y="2312276"/>
            <a:ext cx="10356894" cy="3283549"/>
          </a:xfrm>
        </p:spPr>
        <p:txBody>
          <a:bodyPr>
            <a:noAutofit/>
          </a:bodyPr>
          <a:lstStyle/>
          <a:p>
            <a:pPr>
              <a:buFont typeface="Arial" panose="020B0604020202020204" pitchFamily="34" charset="0"/>
              <a:buChar char="•"/>
            </a:pPr>
            <a:r>
              <a:rPr lang="en-US" sz="2400" dirty="0" smtClean="0">
                <a:solidFill>
                  <a:schemeClr val="bg1"/>
                </a:solidFill>
              </a:rPr>
              <a:t> Smartwatch Integration for better fall detection </a:t>
            </a:r>
            <a:endParaRPr lang="en-US" sz="2400" dirty="0">
              <a:solidFill>
                <a:schemeClr val="bg1"/>
              </a:solidFill>
            </a:endParaRPr>
          </a:p>
          <a:p>
            <a:pPr>
              <a:buFont typeface="Arial" panose="020B0604020202020204" pitchFamily="34" charset="0"/>
              <a:buChar char="•"/>
            </a:pPr>
            <a:r>
              <a:rPr lang="en-US" sz="2400" dirty="0" smtClean="0">
                <a:solidFill>
                  <a:schemeClr val="bg1"/>
                </a:solidFill>
              </a:rPr>
              <a:t> AI-Based </a:t>
            </a:r>
            <a:r>
              <a:rPr lang="en-US" sz="2400" dirty="0">
                <a:solidFill>
                  <a:schemeClr val="bg1"/>
                </a:solidFill>
              </a:rPr>
              <a:t>Accurate Fall Prediction </a:t>
            </a:r>
          </a:p>
          <a:p>
            <a:pPr>
              <a:buFont typeface="Arial" panose="020B0604020202020204" pitchFamily="34" charset="0"/>
              <a:buChar char="•"/>
            </a:pPr>
            <a:r>
              <a:rPr lang="en-US" sz="2400" dirty="0" smtClean="0">
                <a:solidFill>
                  <a:schemeClr val="bg1"/>
                </a:solidFill>
              </a:rPr>
              <a:t> Voice </a:t>
            </a:r>
            <a:r>
              <a:rPr lang="en-US" sz="2400" dirty="0">
                <a:solidFill>
                  <a:schemeClr val="bg1"/>
                </a:solidFill>
              </a:rPr>
              <a:t>Command Emergency Activation </a:t>
            </a:r>
          </a:p>
          <a:p>
            <a:pPr>
              <a:buFont typeface="Arial" panose="020B0604020202020204" pitchFamily="34" charset="0"/>
              <a:buChar char="•"/>
            </a:pPr>
            <a:r>
              <a:rPr lang="en-US" sz="2400" dirty="0" smtClean="0">
                <a:solidFill>
                  <a:schemeClr val="bg1"/>
                </a:solidFill>
              </a:rPr>
              <a:t> Emergency </a:t>
            </a:r>
            <a:r>
              <a:rPr lang="en-US" sz="2400" dirty="0">
                <a:solidFill>
                  <a:schemeClr val="bg1"/>
                </a:solidFill>
              </a:rPr>
              <a:t>Calling Feature </a:t>
            </a:r>
          </a:p>
          <a:p>
            <a:pPr>
              <a:buFont typeface="Arial" panose="020B0604020202020204" pitchFamily="34" charset="0"/>
              <a:buChar char="•"/>
            </a:pPr>
            <a:r>
              <a:rPr lang="en-US" sz="2400" dirty="0" smtClean="0">
                <a:solidFill>
                  <a:schemeClr val="bg1"/>
                </a:solidFill>
              </a:rPr>
              <a:t> Hospital </a:t>
            </a:r>
            <a:r>
              <a:rPr lang="en-US" sz="2400" dirty="0">
                <a:solidFill>
                  <a:schemeClr val="bg1"/>
                </a:solidFill>
              </a:rPr>
              <a:t>&amp; Ambulance </a:t>
            </a:r>
            <a:r>
              <a:rPr lang="en-US" sz="2400">
                <a:solidFill>
                  <a:schemeClr val="bg1"/>
                </a:solidFill>
              </a:rPr>
              <a:t>Integration </a:t>
            </a:r>
            <a:endParaRPr lang="en-US" sz="2400" dirty="0">
              <a:solidFill>
                <a:schemeClr val="bg1"/>
              </a:solidFill>
            </a:endParaRPr>
          </a:p>
          <a:p>
            <a:pPr>
              <a:buFont typeface="Arial" panose="020B0604020202020204" pitchFamily="34" charset="0"/>
              <a:buChar char="•"/>
            </a:pPr>
            <a:r>
              <a:rPr lang="en-US" sz="2400" dirty="0" smtClean="0">
                <a:solidFill>
                  <a:schemeClr val="bg1"/>
                </a:solidFill>
              </a:rPr>
              <a:t> Wearable </a:t>
            </a:r>
            <a:r>
              <a:rPr lang="en-US" sz="2400" dirty="0">
                <a:solidFill>
                  <a:schemeClr val="bg1"/>
                </a:solidFill>
              </a:rPr>
              <a:t>device support to detect falls even when the phone is far away </a:t>
            </a:r>
          </a:p>
          <a:p>
            <a:pPr>
              <a:buFont typeface="Arial" panose="020B0604020202020204" pitchFamily="34" charset="0"/>
              <a:buChar char="•"/>
            </a:pPr>
            <a:endParaRPr lang="en-US" sz="2400" dirty="0">
              <a:solidFill>
                <a:schemeClr val="bg1"/>
              </a:solidFill>
            </a:endParaRPr>
          </a:p>
        </p:txBody>
      </p:sp>
    </p:spTree>
    <p:extLst>
      <p:ext uri="{BB962C8B-B14F-4D97-AF65-F5344CB8AC3E}">
        <p14:creationId xmlns:p14="http://schemas.microsoft.com/office/powerpoint/2010/main" val="295524467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64</TotalTime>
  <Words>281</Words>
  <Application>Microsoft Office PowerPoint</Application>
  <PresentationFormat>Widescreen</PresentationFormat>
  <Paragraphs>52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Retrospect</vt:lpstr>
      <vt:lpstr>SMART FALL DETECTION AND EMERGENCY ALERT System</vt:lpstr>
      <vt:lpstr>SafeFall </vt:lpstr>
      <vt:lpstr>Features</vt:lpstr>
      <vt:lpstr>Working of the App</vt:lpstr>
      <vt:lpstr>Technologies &amp; Algorithm</vt:lpstr>
      <vt:lpstr>Limitations</vt:lpstr>
      <vt:lpstr>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FARIHA</dc:creator>
  <cp:lastModifiedBy>FARIHA</cp:lastModifiedBy>
  <cp:revision>12</cp:revision>
  <dcterms:created xsi:type="dcterms:W3CDTF">2026-04-19T18:37:14Z</dcterms:created>
  <dcterms:modified xsi:type="dcterms:W3CDTF">2026-06-06T06:11:58Z</dcterms:modified>
</cp:coreProperties>
</file>